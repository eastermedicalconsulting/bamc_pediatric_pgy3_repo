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4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3FACA-330D-4727-8AEA-054BC616D26D}" v="4" dt="2026-06-05T12:42:59.810"/>
    <p1510:client id="{E8FBF79B-F1E3-4927-BDDF-724B9343879C}" v="2" dt="2026-06-05T02:44:0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aster, Peter S Lt Col USAF DHA (USA)" userId="acc1b130-08fe-4caa-a4ad-60cf983da385" providerId="ADAL" clId="{749EE6D1-07D6-4573-8629-13BBBFAC08C5}"/>
    <pc:docChg chg="custSel addSld delSld modSld">
      <pc:chgData name="Easter, Peter S Lt Col USAF DHA (USA)" userId="acc1b130-08fe-4caa-a4ad-60cf983da385" providerId="ADAL" clId="{749EE6D1-07D6-4573-8629-13BBBFAC08C5}" dt="2026-06-05T14:01:40.496" v="410" actId="20577"/>
      <pc:docMkLst>
        <pc:docMk/>
      </pc:docMkLst>
      <pc:sldChg chg="modSp mod">
        <pc:chgData name="Easter, Peter S Lt Col USAF DHA (USA)" userId="acc1b130-08fe-4caa-a4ad-60cf983da385" providerId="ADAL" clId="{749EE6D1-07D6-4573-8629-13BBBFAC08C5}" dt="2026-06-05T12:45:05.214" v="140" actId="20577"/>
        <pc:sldMkLst>
          <pc:docMk/>
          <pc:sldMk cId="0" sldId="277"/>
        </pc:sldMkLst>
        <pc:spChg chg="mod">
          <ac:chgData name="Easter, Peter S Lt Col USAF DHA (USA)" userId="acc1b130-08fe-4caa-a4ad-60cf983da385" providerId="ADAL" clId="{749EE6D1-07D6-4573-8629-13BBBFAC08C5}" dt="2026-06-05T12:45:05.214" v="140" actId="20577"/>
          <ac:spMkLst>
            <pc:docMk/>
            <pc:sldMk cId="0" sldId="277"/>
            <ac:spMk id="4" creationId="{00000000-0000-0000-0000-000000000000}"/>
          </ac:spMkLst>
        </pc:spChg>
      </pc:sldChg>
      <pc:sldChg chg="modSp mod">
        <pc:chgData name="Easter, Peter S Lt Col USAF DHA (USA)" userId="acc1b130-08fe-4caa-a4ad-60cf983da385" providerId="ADAL" clId="{749EE6D1-07D6-4573-8629-13BBBFAC08C5}" dt="2026-06-05T12:54:57.853" v="287" actId="20577"/>
        <pc:sldMkLst>
          <pc:docMk/>
          <pc:sldMk cId="0" sldId="278"/>
        </pc:sldMkLst>
        <pc:spChg chg="mod">
          <ac:chgData name="Easter, Peter S Lt Col USAF DHA (USA)" userId="acc1b130-08fe-4caa-a4ad-60cf983da385" providerId="ADAL" clId="{749EE6D1-07D6-4573-8629-13BBBFAC08C5}" dt="2026-06-05T12:54:57.853" v="287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Easter, Peter S Lt Col USAF DHA (USA)" userId="acc1b130-08fe-4caa-a4ad-60cf983da385" providerId="ADAL" clId="{749EE6D1-07D6-4573-8629-13BBBFAC08C5}" dt="2026-06-05T14:01:40.496" v="410" actId="20577"/>
        <pc:sldMkLst>
          <pc:docMk/>
          <pc:sldMk cId="0" sldId="280"/>
        </pc:sldMkLst>
        <pc:spChg chg="mod">
          <ac:chgData name="Easter, Peter S Lt Col USAF DHA (USA)" userId="acc1b130-08fe-4caa-a4ad-60cf983da385" providerId="ADAL" clId="{749EE6D1-07D6-4573-8629-13BBBFAC08C5}" dt="2026-06-05T14:01:40.496" v="410" actId="20577"/>
          <ac:spMkLst>
            <pc:docMk/>
            <pc:sldMk cId="0" sldId="280"/>
            <ac:spMk id="4" creationId="{00000000-0000-0000-0000-000000000000}"/>
          </ac:spMkLst>
        </pc:spChg>
      </pc:sldChg>
      <pc:sldChg chg="del">
        <pc:chgData name="Easter, Peter S Lt Col USAF DHA (USA)" userId="acc1b130-08fe-4caa-a4ad-60cf983da385" providerId="ADAL" clId="{749EE6D1-07D6-4573-8629-13BBBFAC08C5}" dt="2026-06-05T13:31:41.655" v="288" actId="2696"/>
        <pc:sldMkLst>
          <pc:docMk/>
          <pc:sldMk cId="3120582929" sldId="293"/>
        </pc:sldMkLst>
      </pc:sldChg>
      <pc:sldChg chg="new del">
        <pc:chgData name="Easter, Peter S Lt Col USAF DHA (USA)" userId="acc1b130-08fe-4caa-a4ad-60cf983da385" providerId="ADAL" clId="{749EE6D1-07D6-4573-8629-13BBBFAC08C5}" dt="2026-06-05T14:00:35.011" v="290" actId="47"/>
        <pc:sldMkLst>
          <pc:docMk/>
          <pc:sldMk cId="3081629326" sldId="295"/>
        </pc:sldMkLst>
      </pc:sldChg>
    </pc:docChg>
  </pc:docChgLst>
  <pc:docChgLst>
    <pc:chgData name="Easter, Peter S Lt Col USAF DHA (USA)" userId="acc1b130-08fe-4caa-a4ad-60cf983da385" providerId="ADAL" clId="{C3D1DA5A-DB3A-476F-9BA1-210B346D4314}"/>
    <pc:docChg chg="modSld">
      <pc:chgData name="Easter, Peter S Lt Col USAF DHA (USA)" userId="acc1b130-08fe-4caa-a4ad-60cf983da385" providerId="ADAL" clId="{C3D1DA5A-DB3A-476F-9BA1-210B346D4314}" dt="2026-06-05T02:44:08.979" v="1" actId="1076"/>
      <pc:docMkLst>
        <pc:docMk/>
      </pc:docMkLst>
      <pc:sldChg chg="addSp modSp">
        <pc:chgData name="Easter, Peter S Lt Col USAF DHA (USA)" userId="acc1b130-08fe-4caa-a4ad-60cf983da385" providerId="ADAL" clId="{C3D1DA5A-DB3A-476F-9BA1-210B346D4314}" dt="2026-06-05T02:44:08.979" v="1" actId="1076"/>
        <pc:sldMkLst>
          <pc:docMk/>
          <pc:sldMk cId="1837986533" sldId="294"/>
        </pc:sldMkLst>
        <pc:picChg chg="add mod">
          <ac:chgData name="Easter, Peter S Lt Col USAF DHA (USA)" userId="acc1b130-08fe-4caa-a4ad-60cf983da385" providerId="ADAL" clId="{C3D1DA5A-DB3A-476F-9BA1-210B346D4314}" dt="2026-06-05T02:44:08.979" v="1" actId="1076"/>
          <ac:picMkLst>
            <pc:docMk/>
            <pc:sldMk cId="1837986533" sldId="294"/>
            <ac:picMk id="1026" creationId="{A0DD1589-B580-5744-FA63-DD30806573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3276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DUTY PEDIATRIC STAFF ORIENTATION  |  FOR OFFICIAL USE ONLY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fas.mil/militarymembers/payentitlements/Pay-Tables/HPO4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yfss.us.af.mil/USAFCommunity/s/knowledge-detail?pid=kA0t0000000LI2ZCAW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Real Army/Air Force: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Didn't Teach You in Residency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880360"/>
            <a:ext cx="64008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Years of Combined Army &amp; Air Force Pediatric Experience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Into 60 Minutes So You Don't Learn It the Hard 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PGY3 Pediatric Residents  |  Incoming Active Duty Staff  |  May 2026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Disclosure – This presentation was build using Claude 4.6 Sonnet with Human-In-The-Loop direction and editing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Lecture Exists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residency trained you to do vs. what Active-Duty staff life actually demands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Iceberg: what you see above the surface vs. what runs underneath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7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 Map: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 FTE, Empanelment &amp; Deductions Section 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 People to Know Section 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 Evals, Awards &amp; Records Management Section 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 Financial Commitment &amp; Special Pays Section 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 Supervisory Management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i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rules: Questions welcome at any time. War stories guaranteed.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FTE, Empanelment &amp; Deductions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system - and how not to abuse 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PCM FTE and Why Does It Matter?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FTE &amp; Deductions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1.0 FTE - this is your clinical baseline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panel standard: 1,100 - 1,300 empaneled patients (DHA-PI 6025.11)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panel drives: staffing levels, clinic resources, and how YOUR clinic is evaluated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your FTE as a clinical budget: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approved deduction spends from that budget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patients expected = fewer resources allocated to your clinic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budget to avoid burning out your staff 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administrative abstraction - MTF Commanders enforce this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DHA-PI 6025.11 - The Governing Document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FTE &amp; Deductions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policy governs empanelment standards across ALL MTFs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7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establishes: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size standards by specialty, Leadership deductions (approved and defined), GME deductions, "Must See" patient calculation methodology</a:t>
            </a: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reading assignment - the key sections: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3 - Core empanelment policy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- Army-specific deductions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- Air Force-specific deductions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handed out today - keep it. Reference it. Know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Deduction Tool - What It 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FTE &amp; Deductions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used by your MTF to calculate your adjusted empanelment capacity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7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1.0 FTE and applies APPROVED deductions for: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roles (Flight/Company CC, Dept Chief, Medical Director)GME and teaching duties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assigned additional duties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examples (Appendix B): Department Chief, Residency Director, Committee roles with defined FTE impact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Force examples (Appendix D): Flight Commander, Medical Director - deductions scale with panel size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Inpatient time, Leave, TDY (projected) and can correct 2 months back for unanticipated time away from clinic 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5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Mistake New Staff Make - Over-Deducting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FTE &amp; Deductions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both seen new staff claim every committee seat and every additional duty - and end up with a panel expectation of 600 patients. That gets noticed.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200" b="1" i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 legitimate deduction: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Service-specific leadership roles (Appendix B or D of 6025.11)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GME / residency teaching responsibilities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funded positions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2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automatically earn a deduction: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on a committee casually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mentoring duties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up to an occasional meeting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200" b="1" i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it's not in Appendix B or D - or approved by your MTF Commander - it is not a deduction.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Duties - Brief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FTE &amp; Deductions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duties (Readiness Officer, EFMP Rep, FAP Rep, etc.) may carry small defined deductions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Army: typically 0.05 - 0.20 FTE depending on duty type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Force: e.g., Pain Champion = 0.10 - 0.20 FTE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rule: These are FORMAL, commander-approved deductions - not self-declared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b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when you arrive: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Chief what deductions are on YOUR template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template is accurate - in BOTH directions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legitimate deduction costs you just as much as claiming a fake one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management is handled by your Chief or MSC officer - but YOU need to understand and verify yours.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Know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capital is clinical capital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Internal Network - Why It Matters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People to Know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efficiency in an MTF depends heavily on WHO you know, not just what you know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relationships: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delays in care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patient safety gaps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daily clinical life dramatically easier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Story – LtCol Easter (Pharmacy/Ortho/AAI/</a:t>
            </a:r>
            <a:r>
              <a:rPr lang="en-US" sz="1600" b="1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500" b="1" i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pediatrician - you will need ALL of these people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Critical Clinical Network (Part 1)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People to Know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reads &amp; wet reads on peds films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studies and MSK imaging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them by name - not just by phone number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4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navigation &amp; prior </a:t>
            </a:r>
            <a:r>
              <a:rPr lang="en-US" sz="1400" dirty="0" err="1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</a:t>
            </a:r>
            <a:endParaRPr lang="en-US" sz="14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Off-label pediatric dosing guidance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Invaluable for complex polypharmacy kids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0" cy="49377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OPTOMETRY / OPHTHALMOLOGY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screening follow-up from well visits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Amblyopia management timelines are critical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Retinoblastoma flags - you need same-week access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covers peds specifically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Peds referral timelines are not forgiving.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relationship buys your patients speed.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Critical Clinical Network (Part 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People to Know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 SURGEON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Fractures, scoliosis, developmental hip dysplasia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relationship can turn a 3-week wait into 2 days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handles pediatric vs. adult cases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4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PEDIATRIC SURGEON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Appendicitis, pyloric stenosis, inguinal hernias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access is everything in peds surgical emergencies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after-hours call protocol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0" cy="49377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/ IT / INFORMATICS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MHS GENESIS ISSUES WILL happen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errors and broken order sets affect patient safety directly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to call - not just the help desk ticket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relationship BEFORE your CAC gets blocked!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These Relationships - Practically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People to Know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 in the FIRST 2 WEEKS - walk the halls, visit their clinic, send an email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any joint case conferences or M&amp;M where consultants present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consult notes that are THOUGHTFUL - they remember the ones who communicate well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order stupid tests – the radiologist will remember! 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until you have an urgent case to introduce yourself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i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call, they already know your name and trust your clinical judgment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new O-3 or O-4 in a system with senior O-6 consultants. Humility and a warm handshake go further than rank."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Evals, Awards &amp; Records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writing your own narrative - start on Day 1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System - Big Picture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Evaluation Report (OER)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cycle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and Senior Rater driven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AR 623-3S1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shop is your administrative resource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0" cy="49377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FORCE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Performance Report (OPR)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cycle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Rater and Additional Rater driven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DAFI 36-2406MPF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 is your administrative resource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- What Is Actually at Stake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evaluation report is a PRIMARY driver of: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decisions (O-4, O-5, O-6)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and fellowship selection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and leadership opportunity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continuation boards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regret of mid-career officers:</a:t>
            </a:r>
            <a:r>
              <a:rPr lang="en-US" sz="18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didn't track my accomplishments in Year 1.“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500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5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rater will ask you for input. If you have nothing written down, you give them nothing to work with - and that becomes YOUR problem, not theirs.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Your Performance - The Officer's Bullet Journal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running document on DAY 1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doc, OneNote, notes app - whatever you will actually use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weekly: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Significant clinical cases, programs led, policies written, teaching done, committees, community engagement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Bullet Formula:  ACTION - IMPACT – SCOPE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 “One of 3 PCMS in busy pediatric clinic”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Good: "Managed 1,200-patient panel as solo peds PCM; achieved 97% immunization rate - top 10% of MTF“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i="1" dirty="0">
              <a:solidFill>
                <a:srgbClr val="4A67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Review and add to your document every Friday before you leave. 5 minutes now = hours saved at eval time.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the Eval System - Resources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Tongue and Quill (AF Pamphlet 33-337) - the gold standard for military writing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bullet format, award writing, OPR/EPR construction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AF e-Publishing - search "Tongue and Quill"</a:t>
            </a:r>
            <a:r>
              <a:rPr lang="en-US" sz="1500" i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Bookmark it. Use it BEFORE you write your first bullet.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Resources: 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623-3 governs OERs; your S1/G1 shop is your resource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Action Items: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senior rater EARLY - understand their priorities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peers who just went through boards - learn from recent examples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face-to-face with your Senior Rater within the first 60 days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b="1" i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them: "What does an exceptional officer look like to you?" - then write that answer down.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Officer Performance Board (OPB) - Year 1, 2,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1 - Establish Your Reputation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known as reliable, clinically excellent, and a team player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meaningful additional duty and OWN it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2 - Demonstrate Growth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leadership and initiative beyond the clinic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mentoring junior staff. 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collecting quantified impact bullets.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3 - Build Your Board File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Promotion? Command? GME Fellowship? Know YOUR goal and work backward.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board file tells a STORY - make sure it is the story you intended to write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manages this? YOU do - with coaching from your rater and senior rater.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- Basics of the Submission Process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Evals &amp; Awards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Army: DA Form 638 - Recommendation for Award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Force: AF Form 1206 - Nomination for Award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require: Achievement narrative + measurable impact statement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are not self-submitted - but you CAN and SHOULD give your supervisor the bullets to work with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is everything: 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End-of-tour awards should be started 90 days before your PCS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b="1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seen outstanding officers leave a post with nothing because their rater did not know what they had accomplished. Do not let that be you."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Commitment &amp; Special Pays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not to leave money on the table - and how not to over-commit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of Military Physician Special Pays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Special Pays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pays are SEPARATE from your base pay and represent significant annual income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categories for physicians: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Certified Pay (BCP) 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 $8K</a:t>
            </a:r>
            <a:endParaRPr lang="en-US" sz="15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Special Pay (IP) / Multiyear Special Pay (MSP)</a:t>
            </a: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IP rate </a:t>
            </a: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 43,000  MSP rates  2/3/4/6yr  $15K/$25K/$35K/$40K</a:t>
            </a:r>
          </a:p>
          <a:p>
            <a:pPr marL="1257300" lvl="2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https://www.dfas.mil/militarymembers/payentitlements/Pay-Tables/HPO4/</a:t>
            </a: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https://myfss.us.af.mil/USAFCommunity/s/knowledge-detail?pid=kA0t0000000LI2ZCAW</a:t>
            </a: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Rule:These pays require contracts - and contracts create service obligations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pay does not come to find you. You go find it.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USUHS and HPSP - Know Your Commitment Timeline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Special Pays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 have PRE-EXISTING service commitments: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USUHS: 7-year commitment (4 years medical school + 3 additional years)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HPSP: 1 year of service obligation for each scholarship year (typically 3-4 years)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Planning Concept: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plan to serve 20 years, you want to time your ISP/MSP contracts so you do not sign a 1 or 2-year add-on at Year 18 that technically extends you past your natural retirement point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Conversely: do not avoid signing contracts out of confusion and leave tens of thousands of dollars on the table annually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500" b="1" i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requires MATH and PLANNING - do it early, not at contract-signing time.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CLOSE ATTENTION TO YOUR LES STATEMENTS!  This is not an option, it is a critical habit – set an alarm/calendar reminder every month.  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Money-Leaving Mistake - Three Scenarios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Special Pays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- The Missed Contract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sign ISP because "the paperwork is confusing" 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tens of thousands annually. No one will chase you down to fix it.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- The Under-Optimized Contract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a 1-year ISP when a 4-year MSP was available at a significantly higher rate. 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paid less for the same commitment</a:t>
            </a: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- The Late-Career Trap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a 2-year MSP at Year 18 of a planned 20-year career. Now you have a legal obligation that extends past retirement eligibility. 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Finance FIRST.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lang="en-US" sz="1500" b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r>
              <a:rPr lang="en-US" sz="15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your TAFCS date, your current obligation end date, and your planned retirement year BEFORE signing any contract.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Talk To and When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Special Pays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Medical Corps Assignment Officer (HRC/AFPC)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obligation dates and upcoming contract eligibility windows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Office (your installation)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brief you on current pay tables and contract options - request this in your first 30 days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Senior Rater or Chief of Pediatrics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navigated this before - ask them what they did and what they wish they had known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 Office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 about the legal language of any contract - use them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5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for someone to tell you to sign. Be proactive.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5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consider Term Life and Own Occupation Disability Insurance early! 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500" i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"Special pay does not come to find you. You go find it."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Management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or not - you are a supervisor now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a Supervisor - Ready or Not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your first assignment, you may supervise: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officers (O-1, O-2, new O-3s)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civilian employees (front desk, nursing staff, medical technicians)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(clinic support, IT, possibly clinical)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Enlisted medical personnel (68W, 4N0, etc.)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LEADERSHIP role, not just a clinical one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Story: Dr. Rees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Discipline - The Ladder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discipline = escalating formal responses to repeated or serious misconduct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CORRECTION - documentation protects both you AND the employee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500" b="1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endParaRPr lang="en-US" sz="1400" i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4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steps unless the offense is severe. A letter of reprimand for a first-time minor infraction looks disproportionate - and can be overturned, which undermines YOU.</a:t>
            </a:r>
            <a:endParaRPr lang="en-US" sz="1600" dirty="0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5F3B5DFB-7297-A408-A2F4-CAE2280CD0F4}"/>
              </a:ext>
            </a:extLst>
          </p:cNvPr>
          <p:cNvGrpSpPr/>
          <p:nvPr/>
        </p:nvGrpSpPr>
        <p:grpSpPr>
          <a:xfrm>
            <a:off x="1657925" y="2176724"/>
            <a:ext cx="4666665" cy="2136953"/>
            <a:chOff x="508254" y="1627632"/>
            <a:chExt cx="11074400" cy="445770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077FE301-A813-931B-4BA3-34F68898A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254" y="1627632"/>
              <a:ext cx="5701271" cy="3501377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CB5314-14B6-71C5-8613-CE289CD2DA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296" y="1902714"/>
              <a:ext cx="8940532" cy="4098797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DE41FFBE-7F1B-86F9-3158-F1FDFDF2009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50146" y="2517647"/>
              <a:ext cx="1740406" cy="1121663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5E4A833F-5513-5B74-6CF3-7CB950794C3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99854" y="3800094"/>
              <a:ext cx="2031491" cy="1011935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94250AF3-9DCE-086D-C441-D281F3F5D15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50146" y="4908041"/>
              <a:ext cx="2032252" cy="1121663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5B8A5E14-13B1-0890-C774-FCCC52800DA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204" y="5369814"/>
              <a:ext cx="3047999" cy="715517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17A40B4C-3990-8CEE-4F4A-223EB31F19C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7815" y="5036058"/>
              <a:ext cx="2633471" cy="715517"/>
            </a:xfrm>
            <a:prstGeom prst="rect">
              <a:avLst/>
            </a:prstGeom>
          </p:spPr>
        </p:pic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9E43A22D-8410-C9AD-BDAD-6AFB345F0A1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86455" y="4683251"/>
              <a:ext cx="4584953" cy="715517"/>
            </a:xfrm>
            <a:prstGeom prst="rect">
              <a:avLst/>
            </a:prstGeom>
          </p:spPr>
        </p:pic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8E07CFDB-D50D-D70C-C789-9C7793DAFE4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56404" y="3659885"/>
              <a:ext cx="4861559" cy="715517"/>
            </a:xfrm>
            <a:prstGeom prst="rect">
              <a:avLst/>
            </a:prstGeom>
          </p:spPr>
        </p:pic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06AED269-0C2E-6814-311D-95919FC729C6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27576" y="4063745"/>
              <a:ext cx="3039617" cy="715517"/>
            </a:xfrm>
            <a:prstGeom prst="rect">
              <a:avLst/>
            </a:prstGeom>
          </p:spPr>
        </p:pic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19B427B0-9105-2A0D-AA7F-DCF3331DD0CC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25896" y="3063240"/>
              <a:ext cx="3592068" cy="715517"/>
            </a:xfrm>
            <a:prstGeom prst="rect">
              <a:avLst/>
            </a:prstGeom>
          </p:spPr>
        </p:pic>
        <p:pic>
          <p:nvPicPr>
            <p:cNvPr id="17" name="object 16">
              <a:extLst>
                <a:ext uri="{FF2B5EF4-FFF2-40B4-BE49-F238E27FC236}">
                  <a16:creationId xmlns:a16="http://schemas.microsoft.com/office/drawing/2014/main" id="{0B06937F-4FF1-6525-0F46-119DCE7262A8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84264" y="2699766"/>
              <a:ext cx="2967989" cy="715517"/>
            </a:xfrm>
            <a:prstGeom prst="rect">
              <a:avLst/>
            </a:prstGeom>
          </p:spPr>
        </p:pic>
        <p:pic>
          <p:nvPicPr>
            <p:cNvPr id="18" name="object 17">
              <a:extLst>
                <a:ext uri="{FF2B5EF4-FFF2-40B4-BE49-F238E27FC236}">
                  <a16:creationId xmlns:a16="http://schemas.microsoft.com/office/drawing/2014/main" id="{3AE416B1-C3FF-F1F5-C0F6-A8553CEA91DF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98436" y="2377440"/>
              <a:ext cx="1642871" cy="715517"/>
            </a:xfrm>
            <a:prstGeom prst="rect">
              <a:avLst/>
            </a:prstGeom>
          </p:spPr>
        </p:pic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4A56E5CD-CB2C-097E-844D-502EC44C362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95877" y="4660392"/>
              <a:ext cx="5903975" cy="96011"/>
            </a:xfrm>
            <a:prstGeom prst="rect">
              <a:avLst/>
            </a:prstGeom>
          </p:spPr>
        </p:pic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2903BFBF-7FF4-0DB8-1FF6-5C47FF1AEAE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88686" y="3638550"/>
              <a:ext cx="4015739" cy="1066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Discipline - Consistency Is Your Shield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discipline means: 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give Person A an LOC for Infraction X, you CANNOT give Person B an MFR for the same Infraction X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looks for inconsistency: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EEO offices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General (IG)</a:t>
            </a:r>
          </a:p>
          <a:p>
            <a:pPr marL="171450" indent="-1714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representatives (for GS employees)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yourself: </a:t>
            </a: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private log of what disciplinary actions were taken for what infractions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files an EEO complaint, your documented consistency is your defense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400" i="1" dirty="0">
              <a:solidFill>
                <a:srgbClr val="C9A84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protects the employee from arbitrary treatment and YOU from legal exposure.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DPMAP - What You Need to Know Right 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Performance Management and Appraisal Program - applies to GS CIVILIAN employees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7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supervisor, you are responsible for: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performance elements and standards at the START of the rating cycle (October 1)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a mid-year progress review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annual appraisal by September 30</a:t>
            </a:r>
          </a:p>
          <a:p>
            <a:pPr marL="800100" lvl="1" indent="-342900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more: Ask HR (CPAC) for a DPMAP briefing in your first 30 days if you supervise GS 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  <a:buSzPct val="100000"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Rule:</a:t>
            </a:r>
            <a:r>
              <a:rPr lang="en-US" sz="15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 not set performance standards by the deadline, you cannot give a meaningful - or defensible - annual rating.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vs. GS Employee - Critical Differences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EMPLOYEE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by the federal government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direct their WORK TASKS (within their position description)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issues handled via DPMAP process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have union rights - always check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their direct supervisor on 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26280" y="1188720"/>
            <a:ext cx="0" cy="493776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0" y="1143000"/>
            <a:ext cx="4160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by a private company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direct WORK OUTCOMES only (within the Statement of Work)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issues go to the Contracting Officer's Representative (COR)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their employer - full stop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tell them their contract is not being renewed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Contractor Mistake - Do Not Make 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Supervisory Mgmt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TELL A CONTRACTOR THEIR CONTRACT IS NOT BEING RENEWED.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b="1" dirty="0">
              <a:solidFill>
                <a:srgbClr val="C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also cannot tell them they are: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"Being let go“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coming back“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good fit“</a:t>
            </a:r>
          </a:p>
          <a:p>
            <a:pPr marL="285750" indent="-28575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"Going in a different direction“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600" b="1" dirty="0">
              <a:solidFill>
                <a:srgbClr val="1F386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authority belongs EXCLUSIVELY to the Contracting Officer (KO) - not you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do: Document performance concerns and report them to your COR. Then stop talking.</a:t>
            </a: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endParaRPr lang="en-US" sz="1200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STORY:  LtCol Easter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30 Days - 10 Action Items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Enclosure 3 + Appendix B or D of DHA-PI 6025.11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MSC/Chief and verify YOUR FTE deduction template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hospital - introduce yourself to Radiology, Pharmacy, Ortho, Surgery, Optometry, IT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special pay briefing from Finance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running accomplishment document – TODAY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face-to-face with your Senior Rater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HR/CPAC for a DPMAP briefing if supervising GS employees and complete your training!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the COR is for any contractors in your workspace if supervising contractors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rater: "What does success look like in Year 1?“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TAFCS date and obligation end date before any contract conversation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Up Front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73152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trained for years to be an excellent pediatrician.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military also needs you to be an excellent officer.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competing goals - but the second one requires a different kind of study.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5440680"/>
            <a:ext cx="731520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5623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and welcome to the team.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8503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DHA-PI 6025.11 - Empanelment Standards (handed out today)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Tongue and Quill - AF Pamphlet 33-337 (search AF e-Publishing)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623-3 - Army OER Regulation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DAFI 36-2406 - Air Force OPR Regulation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Installation CPAC / HR Office - DPMAP guidance and civilian employee questions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Installation JAG Office - contracts, discipline, legal questions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Finance / Comptroller Office - special pays and contract options</a:t>
            </a: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endParaRPr lang="en-US" sz="1500" b="1" dirty="0">
              <a:solidFill>
                <a:srgbClr val="36363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spcBef>
                <a:spcPts val="400"/>
              </a:spcBef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MSC Officer: </a:t>
            </a: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person is worth their weight in gold. Introduce yourself. Buy them coffee. Listen to everything they say.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486400" cy="6400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service and your commitment to the children of our military families.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be excellent - in the clinic and in uniform.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available through your program coordinator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0DD1589-B580-5744-FA63-DD3080657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496" y="428625"/>
            <a:ext cx="428625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7986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6a3f6ad-3d9b-49ad-9486-10bfd8fef73e}" enabled="1" method="Privileged" siteId="{8903a443-af33-4ed4-acf5-ee613bcb2f5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3306</Words>
  <Application>Microsoft Office PowerPoint</Application>
  <PresentationFormat>On-screen Show (16:9)</PresentationFormat>
  <Paragraphs>426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Real Army/Air Force: What They Didn't Teach You in Residency</dc:title>
  <dc:subject>PptxGenJS Presentation</dc:subject>
  <dc:creator>Ask Sage</dc:creator>
  <cp:lastModifiedBy>Easter, Peter S Lt Col USAF DHA (USA)</cp:lastModifiedBy>
  <cp:revision>3</cp:revision>
  <dcterms:created xsi:type="dcterms:W3CDTF">2026-05-21T20:10:47Z</dcterms:created>
  <dcterms:modified xsi:type="dcterms:W3CDTF">2026-06-05T14:01:45Z</dcterms:modified>
</cp:coreProperties>
</file>