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73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aster, Peter S Lt Col USAF DHA (USA)" userId="acc1b130-08fe-4caa-a4ad-60cf983da385" providerId="ADAL" clId="{749EE6D1-07D6-4573-8629-13BBBFAC08C5}"/>
    <pc:docChg chg="custSel modSld">
      <pc:chgData name="Easter, Peter S Lt Col USAF DHA (USA)" userId="acc1b130-08fe-4caa-a4ad-60cf983da385" providerId="ADAL" clId="{749EE6D1-07D6-4573-8629-13BBBFAC08C5}" dt="2026-06-04T15:17:36.789" v="12" actId="1076"/>
      <pc:docMkLst>
        <pc:docMk/>
      </pc:docMkLst>
      <pc:sldChg chg="modSp mod">
        <pc:chgData name="Easter, Peter S Lt Col USAF DHA (USA)" userId="acc1b130-08fe-4caa-a4ad-60cf983da385" providerId="ADAL" clId="{749EE6D1-07D6-4573-8629-13BBBFAC08C5}" dt="2026-06-04T15:15:52.890" v="8" actId="20577"/>
        <pc:sldMkLst>
          <pc:docMk/>
          <pc:sldMk cId="0" sldId="260"/>
        </pc:sldMkLst>
        <pc:spChg chg="mod">
          <ac:chgData name="Easter, Peter S Lt Col USAF DHA (USA)" userId="acc1b130-08fe-4caa-a4ad-60cf983da385" providerId="ADAL" clId="{749EE6D1-07D6-4573-8629-13BBBFAC08C5}" dt="2026-06-04T15:15:52.890" v="8" actId="20577"/>
          <ac:spMkLst>
            <pc:docMk/>
            <pc:sldMk cId="0" sldId="260"/>
            <ac:spMk id="17" creationId="{6BD9F922-056A-4F49-23D0-BEC04794CE08}"/>
          </ac:spMkLst>
        </pc:spChg>
      </pc:sldChg>
      <pc:sldChg chg="delSp modSp mod">
        <pc:chgData name="Easter, Peter S Lt Col USAF DHA (USA)" userId="acc1b130-08fe-4caa-a4ad-60cf983da385" providerId="ADAL" clId="{749EE6D1-07D6-4573-8629-13BBBFAC08C5}" dt="2026-06-04T15:17:36.789" v="12" actId="1076"/>
        <pc:sldMkLst>
          <pc:docMk/>
          <pc:sldMk cId="1983788307" sldId="273"/>
        </pc:sldMkLst>
        <pc:spChg chg="del mod topLvl">
          <ac:chgData name="Easter, Peter S Lt Col USAF DHA (USA)" userId="acc1b130-08fe-4caa-a4ad-60cf983da385" providerId="ADAL" clId="{749EE6D1-07D6-4573-8629-13BBBFAC08C5}" dt="2026-06-04T15:17:28.511" v="11" actId="478"/>
          <ac:spMkLst>
            <pc:docMk/>
            <pc:sldMk cId="1983788307" sldId="273"/>
            <ac:spMk id="8" creationId="{EC9E7F33-086E-C671-5B6A-D346F3194397}"/>
          </ac:spMkLst>
        </pc:spChg>
        <pc:spChg chg="mod topLvl">
          <ac:chgData name="Easter, Peter S Lt Col USAF DHA (USA)" userId="acc1b130-08fe-4caa-a4ad-60cf983da385" providerId="ADAL" clId="{749EE6D1-07D6-4573-8629-13BBBFAC08C5}" dt="2026-06-04T15:17:36.789" v="12" actId="1076"/>
          <ac:spMkLst>
            <pc:docMk/>
            <pc:sldMk cId="1983788307" sldId="273"/>
            <ac:spMk id="10" creationId="{D7531052-E06E-38FF-991F-FD72BEB6B663}"/>
          </ac:spMkLst>
        </pc:spChg>
        <pc:grpChg chg="del">
          <ac:chgData name="Easter, Peter S Lt Col USAF DHA (USA)" userId="acc1b130-08fe-4caa-a4ad-60cf983da385" providerId="ADAL" clId="{749EE6D1-07D6-4573-8629-13BBBFAC08C5}" dt="2026-06-04T15:17:28.511" v="11" actId="478"/>
          <ac:grpSpMkLst>
            <pc:docMk/>
            <pc:sldMk cId="1983788307" sldId="273"/>
            <ac:grpSpMk id="11" creationId="{EF02605C-6154-E61C-D507-66ED2BB1FDA8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05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CFC65-749C-170A-21F1-DA31ABCB5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12005-606F-793A-8C90-FD4F32DC2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F9410-B117-CA8F-943C-CCF62AA40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5ABCE-B432-3BC5-40D0-362736F1A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1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_DHA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0B3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05A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6327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3276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WHASC Pediatric Clinic | AI in Military Pediatrics | May 2026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0704"/>
            <a:ext cx="9144000" cy="41148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60704"/>
            <a:ext cx="164592" cy="4114800"/>
          </a:xfrm>
          <a:prstGeom prst="rect">
            <a:avLst/>
          </a:prstGeom>
          <a:solidFill>
            <a:srgbClr val="F0B3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THE MILITARY PEDIATRIC CLINIC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Supercharging Your Clinic With AI and Large Language Models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005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Guide for the Military Pediatric Provider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PGY-3 Pediatric Resident Graduation Lecture | WHASC | June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794760"/>
            <a:ext cx="3657600" cy="45720"/>
          </a:xfrm>
          <a:prstGeom prst="rect">
            <a:avLst/>
          </a:prstGeom>
          <a:solidFill>
            <a:srgbClr val="F0B3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LtCol Peter Easter, DO, MBA/MHA</a:t>
            </a:r>
          </a:p>
          <a:p>
            <a:pPr marL="0" indent="0">
              <a:buNone/>
            </a:pPr>
            <a:endParaRPr lang="en-US" sz="1200" dirty="0">
              <a:solidFill>
                <a:srgbClr val="1A1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 // FOR OFFICIAL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DISCLAIMER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69848"/>
            <a:ext cx="8321040" cy="256032"/>
          </a:xfrm>
          <a:prstGeom prst="rect">
            <a:avLst/>
          </a:prstGeom>
          <a:solidFill>
            <a:srgbClr val="005A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55887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NOTICE - PLEASE READ BEFORE THIS PRESENTATION BEGINS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58053"/>
            <a:ext cx="8321040" cy="2377440"/>
          </a:xfrm>
          <a:prstGeom prst="rect">
            <a:avLst/>
          </a:prstGeom>
          <a:solidFill>
            <a:srgbClr val="F2F4F7"/>
          </a:solidFill>
          <a:ln w="254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44168"/>
            <a:ext cx="1097280" cy="2743200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44168"/>
            <a:ext cx="1097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0B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449493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was built using AI.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1888405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Specifically, it was developed using Ask Sage - a government-approved, PHI-authorized AI platform - as a large language model assistant to support content generation, slide structure, and document drafting.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619925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content has been reviewed, validated, and approved by the presenting physician prior to delivery. The use of AI in building this presentation is intentional - it is a live demonstration of the very capability being taught today.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3351445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5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drafted. Human verified. Physician approved.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740065"/>
            <a:ext cx="2697480" cy="384048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7180" y="3734477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" y="4083984"/>
            <a:ext cx="2697480" cy="100584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12970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Sage – Claude 4.6 Sonnet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495464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approved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authorized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3734477"/>
            <a:ext cx="2697480" cy="384048"/>
          </a:xfrm>
          <a:prstGeom prst="rect">
            <a:avLst/>
          </a:prstGeom>
          <a:solidFill>
            <a:srgbClr val="005A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86100" y="3734477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58490" y="4129704"/>
            <a:ext cx="2697480" cy="9601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46120" y="412970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 Reviewed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4495464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content validated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to delivery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3735493"/>
            <a:ext cx="269748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12180" y="3740065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4129704"/>
            <a:ext cx="2697480" cy="9601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412970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by Example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4495464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AI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79" y="1109550"/>
            <a:ext cx="420189" cy="317930"/>
          </a:xfrm>
          <a:prstGeom prst="ellipse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79" y="1109550"/>
            <a:ext cx="420189" cy="317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074208"/>
            <a:ext cx="5415764" cy="1978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Administrative Tax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24004"/>
            <a:ext cx="5415764" cy="176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your day disappears before the first patient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79" y="1703910"/>
            <a:ext cx="420189" cy="317930"/>
          </a:xfrm>
          <a:prstGeom prst="ellipse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79" y="1703910"/>
            <a:ext cx="420189" cy="317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668568"/>
            <a:ext cx="5415764" cy="1978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Landscape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918364"/>
            <a:ext cx="5415764" cy="176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AskSage vs GENAI | PHI rules | What is an LLM?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79" y="2298270"/>
            <a:ext cx="420189" cy="317930"/>
          </a:xfrm>
          <a:prstGeom prst="ellipse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79" y="2298270"/>
            <a:ext cx="420189" cy="317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262928"/>
            <a:ext cx="5415764" cy="1978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an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512724"/>
            <a:ext cx="5415764" cy="176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.md files become your AI workforce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79" y="2892630"/>
            <a:ext cx="420189" cy="317930"/>
          </a:xfrm>
          <a:prstGeom prst="ellipse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79" y="2892630"/>
            <a:ext cx="420189" cy="317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857288"/>
            <a:ext cx="5415764" cy="1978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1 - SOP Generator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3107084"/>
            <a:ext cx="5415764" cy="176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together | MHS Genesis messaging SOP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79" y="3486990"/>
            <a:ext cx="420189" cy="317930"/>
          </a:xfrm>
          <a:prstGeom prst="ellipse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79" y="3486990"/>
            <a:ext cx="420189" cy="317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451648"/>
            <a:ext cx="5415764" cy="1978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2 - MFR Generator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3701444"/>
            <a:ext cx="5415764" cy="176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AI interview | T&amp;Q formatted output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79" y="4081350"/>
            <a:ext cx="420189" cy="317930"/>
          </a:xfrm>
          <a:prstGeom prst="ellipse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79" y="4081350"/>
            <a:ext cx="420189" cy="317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4046008"/>
            <a:ext cx="5415764" cy="1978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and Pitfalls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0120" y="4295804"/>
            <a:ext cx="5415764" cy="176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not wreck yourself with AI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79" y="4675710"/>
            <a:ext cx="420189" cy="317930"/>
          </a:xfrm>
          <a:prstGeom prst="ellipse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79" y="4675710"/>
            <a:ext cx="420189" cy="317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0120" y="4640368"/>
            <a:ext cx="5415764" cy="1978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and Resources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60120" y="4890164"/>
            <a:ext cx="5415764" cy="176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sheets | Access |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ADMINISTRATIVE TAX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143000"/>
            <a:ext cx="8321040" cy="1005840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0B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did not go to medical school to write SOPs."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2286000"/>
            <a:ext cx="4023360" cy="347472"/>
          </a:xfrm>
          <a:prstGeom prst="rect">
            <a:avLst/>
          </a:prstGeom>
          <a:solidFill>
            <a:srgbClr val="005A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TIME ACTUALLY GOES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37490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EFMP enrollment and recertification paperwork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generation and annual 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documentation and co-sign workflows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MFR drafting for administrative events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and family message triage and response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letters and coordination notes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After-action documentation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286000"/>
            <a:ext cx="4023360" cy="34747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2286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TO YOU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697480"/>
            <a:ext cx="37490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stolen from direct patient care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load after a full clinic day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documentation quality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turnaround on critical admin tasks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Burnout - the silent readiness killer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staff without clear guidance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trust eroded by errors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FORCE MULTIPLIER CONCEPT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0" y="1234440"/>
            <a:ext cx="4297680" cy="914400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0" y="12344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not replacing you. 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F0B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supercharging you.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2560320" cy="457200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2560320" cy="100584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in seconds.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hours.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331720"/>
            <a:ext cx="2560320" cy="457200"/>
          </a:xfrm>
          <a:prstGeom prst="rect">
            <a:avLst/>
          </a:prstGeom>
          <a:solidFill>
            <a:srgbClr val="005A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2788920"/>
            <a:ext cx="2560320" cy="100584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2788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standard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560320" cy="457200"/>
          </a:xfrm>
          <a:prstGeom prst="rect">
            <a:avLst/>
          </a:prstGeom>
          <a:solidFill>
            <a:srgbClr val="F0B3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2788920"/>
            <a:ext cx="2560320" cy="100584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2788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more without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more.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8321040" cy="1028700"/>
          </a:xfrm>
          <a:prstGeom prst="rect">
            <a:avLst/>
          </a:prstGeom>
          <a:solidFill>
            <a:srgbClr val="F2F4F7"/>
          </a:solidFill>
          <a:ln w="25400">
            <a:solidFill>
              <a:srgbClr val="F0B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this way: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well-built AI agent is like having a highly trained administrative NCO who never sleeps, never PCSs, and always follows the exact standard you defined - available the moment you need them.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LANDSCAPE: WHAT IS AN LLM?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143000"/>
            <a:ext cx="8321040" cy="777240"/>
          </a:xfrm>
          <a:prstGeom prst="rect">
            <a:avLst/>
          </a:prstGeom>
          <a:solidFill>
            <a:srgbClr val="005A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= Large Language Model - an AI trained on massive text datasets to understand and generate human language with remarkable accuracy and context awareness.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2057400"/>
            <a:ext cx="2697480" cy="384048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441448"/>
            <a:ext cx="2697480" cy="1893485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532888"/>
            <a:ext cx="2514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and understands your instructions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human-quality text output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structured rules you define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Iterates based on your feedback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2057400"/>
            <a:ext cx="2697480" cy="384048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20574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441448"/>
            <a:ext cx="2697480" cy="1893485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2532888"/>
            <a:ext cx="2514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think or reason like a human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access live data by default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remember previous sessions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always get it right - verify outputs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057400"/>
            <a:ext cx="2697480" cy="384048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20574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to You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441448"/>
            <a:ext cx="2697480" cy="1893485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2532888"/>
            <a:ext cx="2514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 drafted in seconds, not hours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MFRs formatted to T&amp;Q standard automatically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quality across your entire clinic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command - AI executes the draft</a:t>
            </a:r>
            <a:endParaRPr lang="en-US" sz="110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6BD9F922-056A-4F49-23D0-BEC04794CE08}"/>
              </a:ext>
            </a:extLst>
          </p:cNvPr>
          <p:cNvSpPr/>
          <p:nvPr/>
        </p:nvSpPr>
        <p:spPr>
          <a:xfrm>
            <a:off x="274320" y="4426372"/>
            <a:ext cx="8458200" cy="633307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i="1" dirty="0"/>
              <a:t>All LLM’s have an ADHD, inattentive diagnosis with comorbid Conduct Disorder… </a:t>
            </a:r>
          </a:p>
          <a:p>
            <a:pPr algn="ctr"/>
            <a:r>
              <a:rPr lang="en-US" sz="1400" b="1" i="1" dirty="0"/>
              <a:t>You need to understand and plan for this!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APPROVED AI TOOLS</a:t>
            </a:r>
            <a:endParaRPr lang="en-US" sz="24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7E076A4-9B6A-EE3C-25B4-D6325F719491}"/>
              </a:ext>
            </a:extLst>
          </p:cNvPr>
          <p:cNvGrpSpPr/>
          <p:nvPr/>
        </p:nvGrpSpPr>
        <p:grpSpPr>
          <a:xfrm>
            <a:off x="274319" y="1142999"/>
            <a:ext cx="8591974" cy="3976285"/>
            <a:chOff x="274319" y="1142999"/>
            <a:chExt cx="8517467" cy="4634653"/>
          </a:xfrm>
        </p:grpSpPr>
        <p:sp>
          <p:nvSpPr>
            <p:cNvPr id="3" name="Shape 1"/>
            <p:cNvSpPr/>
            <p:nvPr/>
          </p:nvSpPr>
          <p:spPr>
            <a:xfrm>
              <a:off x="274320" y="1142999"/>
              <a:ext cx="4211934" cy="575733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274320" y="1142999"/>
              <a:ext cx="4211934" cy="57573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AskSage</a:t>
              </a:r>
              <a:endParaRPr lang="en-US" sz="2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572000" y="1142999"/>
              <a:ext cx="4118336" cy="575733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4572000" y="1142999"/>
              <a:ext cx="4118336" cy="57573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GENAI</a:t>
              </a:r>
              <a:endParaRPr lang="en-US" sz="2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74319" y="1737359"/>
              <a:ext cx="8517467" cy="748453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365759" y="1828800"/>
              <a:ext cx="2246365" cy="518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PHI Approved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651760" y="1828800"/>
              <a:ext cx="1637974" cy="483616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651760" y="1828800"/>
              <a:ext cx="1637974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YES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617719" y="1828800"/>
              <a:ext cx="3931139" cy="483616"/>
            </a:xfrm>
            <a:prstGeom prst="rect">
              <a:avLst/>
            </a:prstGeom>
            <a:solidFill>
              <a:srgbClr val="C8102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4617719" y="1828800"/>
              <a:ext cx="3931139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</a:t>
              </a:r>
              <a:endParaRPr lang="en-US" sz="11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74319" y="2395727"/>
              <a:ext cx="8517467" cy="74845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365759" y="2487168"/>
              <a:ext cx="2246365" cy="518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PII Approved</a:t>
              </a:r>
              <a:endParaRPr lang="en-US" sz="11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651760" y="2487168"/>
              <a:ext cx="1637974" cy="483616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2651760" y="2487168"/>
              <a:ext cx="1637974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YES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617719" y="2487168"/>
              <a:ext cx="3931139" cy="483616"/>
            </a:xfrm>
            <a:prstGeom prst="rect">
              <a:avLst/>
            </a:prstGeom>
            <a:solidFill>
              <a:srgbClr val="C8102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4617719" y="2487168"/>
              <a:ext cx="3931139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74319" y="3054095"/>
              <a:ext cx="8517467" cy="748453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365759" y="3145536"/>
              <a:ext cx="2246365" cy="518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Agent / .md File Support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51760" y="3145536"/>
              <a:ext cx="1637974" cy="483616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651760" y="3145536"/>
              <a:ext cx="1637974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YES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617719" y="3145536"/>
              <a:ext cx="3931139" cy="483616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4617719" y="3145536"/>
              <a:ext cx="3931139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YES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274319" y="3712463"/>
              <a:ext cx="8517467" cy="74845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365759" y="3803904"/>
              <a:ext cx="2246365" cy="518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Government Approved Platform</a:t>
              </a:r>
              <a:endParaRPr lang="en-US" sz="11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651760" y="3803904"/>
              <a:ext cx="1637974" cy="483616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2651760" y="3803904"/>
              <a:ext cx="1637974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YES</a:t>
              </a:r>
              <a:endParaRPr lang="en-US" sz="11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617719" y="3803904"/>
              <a:ext cx="3931139" cy="483616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4617719" y="3803904"/>
              <a:ext cx="3931139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YES</a:t>
              </a:r>
              <a:endParaRPr lang="en-US" sz="11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274319" y="4370831"/>
              <a:ext cx="8517467" cy="748453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365759" y="4462272"/>
              <a:ext cx="2246365" cy="518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Retention Risk</a:t>
              </a:r>
              <a:endParaRPr lang="en-US" sz="11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2651760" y="4462272"/>
              <a:ext cx="1637974" cy="483616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2651760" y="4462272"/>
              <a:ext cx="1637974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Mitigated</a:t>
              </a:r>
              <a:endParaRPr lang="en-US" sz="11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617719" y="4462272"/>
              <a:ext cx="3931139" cy="483616"/>
            </a:xfrm>
            <a:prstGeom prst="rect">
              <a:avLst/>
            </a:prstGeom>
            <a:solidFill>
              <a:srgbClr val="E651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4617719" y="4462272"/>
              <a:ext cx="3931139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Review Policy</a:t>
              </a:r>
              <a:endParaRPr lang="en-US" sz="11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274319" y="5029199"/>
              <a:ext cx="8517467" cy="74845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365759" y="5120640"/>
              <a:ext cx="2246365" cy="518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Best Use Case</a:t>
              </a:r>
              <a:endParaRPr lang="en-US" sz="11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2651760" y="5120640"/>
              <a:ext cx="1637974" cy="483616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2651760" y="5120640"/>
              <a:ext cx="1637974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All clinic workflows</a:t>
              </a:r>
              <a:endParaRPr lang="en-US" sz="11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617719" y="5120640"/>
              <a:ext cx="3931139" cy="483616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40"/>
            <p:cNvSpPr/>
            <p:nvPr/>
          </p:nvSpPr>
          <p:spPr>
            <a:xfrm>
              <a:off x="4617719" y="5120640"/>
              <a:ext cx="3931139" cy="483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Non-PHI tasks only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RULES - KNOW BEFORE YOU TYPE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143000"/>
            <a:ext cx="8321040" cy="50292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7043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in the wrong AI tool is a HIPAA violation. Platform matters. Always.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41148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AskSage for any workflow involving PHI or PII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placeholder language in GENAI (Patient A, the family, Beneficiary X)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MTF has AskSage access configured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all AI-generated output before signing or submitting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suspected PHI exposure per your MTF privacy policy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AI output as a DRAFT - you are the responsible party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783080"/>
            <a:ext cx="4023360" cy="38404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24028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patient names, MRNs, or SSNs into GENAI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any non-approved commercial AI tool for clinic 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AI output is factually accurate without verification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AI drafts into official records without review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.md agent files on non-secure platforms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AI to make clinical decisions - it cannot and must not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0E4E1-7210-C950-519C-4D0CB2392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8DE956-392E-5D31-CA95-84E9425D9DE2}"/>
              </a:ext>
            </a:extLst>
          </p:cNvPr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diagnosis that most LLM’s have: 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3CF3BB-C1A6-BB0F-F6BE-4922490D55A5}"/>
              </a:ext>
            </a:extLst>
          </p:cNvPr>
          <p:cNvSpPr/>
          <p:nvPr/>
        </p:nvSpPr>
        <p:spPr>
          <a:xfrm>
            <a:off x="274320" y="1143000"/>
            <a:ext cx="8321040" cy="50292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F5BC96-08C5-1DBF-57D2-32AB9B6E2F28}"/>
              </a:ext>
            </a:extLst>
          </p:cNvPr>
          <p:cNvSpPr/>
          <p:nvPr/>
        </p:nvSpPr>
        <p:spPr>
          <a:xfrm>
            <a:off x="365760" y="117043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Personality Disorder…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0CFB92-DB61-1BFD-612E-3959B33DC4DE}"/>
              </a:ext>
            </a:extLst>
          </p:cNvPr>
          <p:cNvSpPr/>
          <p:nvPr/>
        </p:nvSpPr>
        <p:spPr>
          <a:xfrm>
            <a:off x="365760" y="224028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585BAD5-1852-666B-A12E-C80ED7979002}"/>
              </a:ext>
            </a:extLst>
          </p:cNvPr>
          <p:cNvSpPr/>
          <p:nvPr/>
        </p:nvSpPr>
        <p:spPr>
          <a:xfrm>
            <a:off x="2057400" y="17739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LLM’s are generally…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7531052-E06E-38FF-991F-FD72BEB6B663}"/>
              </a:ext>
            </a:extLst>
          </p:cNvPr>
          <p:cNvSpPr/>
          <p:nvPr/>
        </p:nvSpPr>
        <p:spPr>
          <a:xfrm>
            <a:off x="2194560" y="1861458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a large and highly diverse data set that can include</a:t>
            </a:r>
            <a:endParaRPr lang="en-US" sz="1100" dirty="0"/>
          </a:p>
          <a:p>
            <a:pPr marL="8001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</a:t>
            </a:r>
          </a:p>
          <a:p>
            <a:pPr marL="8001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Journals</a:t>
            </a:r>
          </a:p>
          <a:p>
            <a:pPr marL="8001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Websites</a:t>
            </a:r>
          </a:p>
          <a:p>
            <a:pPr marL="8001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Datasets</a:t>
            </a:r>
          </a:p>
          <a:p>
            <a:pPr marL="8001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Social Media</a:t>
            </a:r>
          </a:p>
          <a:p>
            <a:pPr marL="8001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News sources</a:t>
            </a:r>
          </a:p>
          <a:p>
            <a:pPr marL="800100" lvl="1" indent="-342900">
              <a:spcAft>
                <a:spcPts val="400"/>
              </a:spcAft>
              <a:buSzPct val="100000"/>
              <a:buChar char="•"/>
            </a:pPr>
            <a:endParaRPr lang="en-US" sz="1100" dirty="0">
              <a:solidFill>
                <a:srgbClr val="1A1A2E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This makes them powerful tools, but it also makes they highly variable in how they answer a question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u="sng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It all comes down to math, vectors, probability, </a:t>
            </a:r>
            <a:r>
              <a:rPr lang="en-US" sz="1100" i="1" u="sng" dirty="0" err="1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tempurment</a:t>
            </a:r>
            <a:r>
              <a:rPr lang="en-US" sz="1100" i="1" u="sng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, and who built the initial .md file!</a:t>
            </a:r>
            <a:endParaRPr lang="en-US" sz="1100" i="1" u="sng" dirty="0"/>
          </a:p>
        </p:txBody>
      </p:sp>
    </p:spTree>
    <p:extLst>
      <p:ext uri="{BB962C8B-B14F-4D97-AF65-F5344CB8AC3E}">
        <p14:creationId xmlns:p14="http://schemas.microsoft.com/office/powerpoint/2010/main" val="1983788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AN AGENT - THE .md FILE</a:t>
            </a:r>
            <a:endParaRPr lang="en-US" sz="24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99940D-1AF0-1E1F-AE59-83AD03E8E704}"/>
              </a:ext>
            </a:extLst>
          </p:cNvPr>
          <p:cNvGrpSpPr/>
          <p:nvPr/>
        </p:nvGrpSpPr>
        <p:grpSpPr>
          <a:xfrm>
            <a:off x="274319" y="1143000"/>
            <a:ext cx="8571653" cy="3863340"/>
            <a:chOff x="274320" y="1143000"/>
            <a:chExt cx="8412480" cy="4343400"/>
          </a:xfrm>
        </p:grpSpPr>
        <p:sp>
          <p:nvSpPr>
            <p:cNvPr id="3" name="Shape 1"/>
            <p:cNvSpPr/>
            <p:nvPr/>
          </p:nvSpPr>
          <p:spPr>
            <a:xfrm>
              <a:off x="274320" y="1143000"/>
              <a:ext cx="8321040" cy="502920"/>
            </a:xfrm>
            <a:prstGeom prst="rect">
              <a:avLst/>
            </a:prstGeom>
            <a:solidFill>
              <a:srgbClr val="F2F4F7"/>
            </a:solidFill>
            <a:ln w="25400">
              <a:solidFill>
                <a:srgbClr val="F0B32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457200" y="1188720"/>
              <a:ext cx="79552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030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.md file is a plain text job description you give the AI. The better you define the role, the better the output.</a:t>
              </a:r>
              <a:endParaRPr lang="en-US" sz="13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274320" y="1828800"/>
              <a:ext cx="457200" cy="1097280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274320" y="1828800"/>
              <a:ext cx="45720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18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31520" y="1828800"/>
              <a:ext cx="3657600" cy="109728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822960" y="1901952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30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ROLE AND IDENTITY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22960" y="2286000"/>
              <a:ext cx="3474720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Who is the AI? What is its expertise? What are its limits?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572000" y="1828800"/>
              <a:ext cx="457200" cy="1097280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0" y="1828800"/>
              <a:ext cx="45720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8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029200" y="1828800"/>
              <a:ext cx="3657600" cy="109728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5120640" y="1901952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5A8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CORE COMPETENCIES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120640" y="2286000"/>
              <a:ext cx="3474720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specific skills and domain knowledge does it apply?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74320" y="3108960"/>
              <a:ext cx="457200" cy="1097280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274320" y="3108960"/>
              <a:ext cx="45720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8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31520" y="3108960"/>
              <a:ext cx="3657600" cy="109728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822960" y="3182112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30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INTERACTION PROTOCOL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22960" y="3566160"/>
              <a:ext cx="3474720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How does it behave? Sequential questions? What triggers generation?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572000" y="3108960"/>
              <a:ext cx="457200" cy="1097280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4572000" y="3108960"/>
              <a:ext cx="45720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18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029200" y="3108960"/>
              <a:ext cx="3657600" cy="109728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5120640" y="3182112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5A8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OUTPUT FORMAT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120640" y="3566160"/>
              <a:ext cx="3474720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Exactly how should the final document look? Headers, numbering, spacing?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274320" y="4389120"/>
              <a:ext cx="457200" cy="1097280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274320" y="4389120"/>
              <a:ext cx="45720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18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31520" y="4389120"/>
              <a:ext cx="3657600" cy="109728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822960" y="4462272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30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WRITING STANDARDS</a:t>
              </a:r>
              <a:endParaRPr lang="en-US" sz="12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22960" y="4846320"/>
              <a:ext cx="3474720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Voice, tone, sentence length, acronym rules, vocabulary level?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572000" y="4389120"/>
              <a:ext cx="457200" cy="1097280"/>
            </a:xfrm>
            <a:prstGeom prst="rect">
              <a:avLst/>
            </a:prstGeom>
            <a:solidFill>
              <a:srgbClr val="C8102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4572000" y="4389120"/>
              <a:ext cx="45720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</a:t>
              </a:r>
              <a:endParaRPr lang="en-US" sz="18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029200" y="4389120"/>
              <a:ext cx="3657600" cy="109728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5120640" y="4462272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C810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GUARDRAILS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120640" y="4846320"/>
              <a:ext cx="3474720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must it never do? PHI rules, scope limits, accountability reminders.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EXAMPLE - AGENT FILE WALKTHROUGH</a:t>
            </a:r>
            <a:endParaRPr lang="en-US" sz="22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2AFC071-2B04-5637-7C87-D65D68BC7AD8}"/>
              </a:ext>
            </a:extLst>
          </p:cNvPr>
          <p:cNvGrpSpPr/>
          <p:nvPr/>
        </p:nvGrpSpPr>
        <p:grpSpPr>
          <a:xfrm>
            <a:off x="274320" y="1143000"/>
            <a:ext cx="8321040" cy="3904488"/>
            <a:chOff x="274320" y="1143000"/>
            <a:chExt cx="8321040" cy="4773168"/>
          </a:xfrm>
        </p:grpSpPr>
        <p:sp>
          <p:nvSpPr>
            <p:cNvPr id="3" name="Shape 1"/>
            <p:cNvSpPr/>
            <p:nvPr/>
          </p:nvSpPr>
          <p:spPr>
            <a:xfrm>
              <a:off x="274320" y="1143000"/>
              <a:ext cx="8321040" cy="411480"/>
            </a:xfrm>
            <a:prstGeom prst="rect">
              <a:avLst/>
            </a:prstGeom>
            <a:solidFill>
              <a:srgbClr val="F0B3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365760" y="1170432"/>
              <a:ext cx="8138160" cy="356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Example:  SNCO SKILL .md walk through each section live.</a:t>
              </a:r>
              <a:endParaRPr lang="en-US" sz="12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274320" y="1691640"/>
              <a:ext cx="2286000" cy="749808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274320" y="1691640"/>
              <a:ext cx="228600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ROLE AND IDENTITY</a:t>
              </a:r>
              <a:endParaRPr lang="en-US" sz="11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560320" y="1691640"/>
              <a:ext cx="6035040" cy="749808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2697480" y="1783080"/>
              <a:ext cx="576072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Notice how it immediately sets boundaries - it says what it IS and what it is NOT. This prevents scope creep in AI outputs.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74320" y="2560320"/>
              <a:ext cx="2286000" cy="749808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74320" y="2560320"/>
              <a:ext cx="228600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CORE COMPETENCIES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560320" y="2560320"/>
              <a:ext cx="6035040" cy="749808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2697480" y="2651760"/>
              <a:ext cx="576072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These are the domain knowledge tags. The more specific you are here, the more context-aware the output becomes.</a:t>
              </a:r>
              <a:endParaRPr lang="en-US" sz="11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74320" y="3429000"/>
              <a:ext cx="2286000" cy="749808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274320" y="3429000"/>
              <a:ext cx="228600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INTERACTION PROTOCOL</a:t>
              </a:r>
              <a:endParaRPr lang="en-US" sz="11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560320" y="3429000"/>
              <a:ext cx="6035040" cy="749808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2697480" y="3520440"/>
              <a:ext cx="576072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This is the behavior engine. It tells the AI HOW to work - sequentially, one question at a time - preventing information dumps.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274320" y="4297680"/>
              <a:ext cx="2286000" cy="749808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274320" y="4297680"/>
              <a:ext cx="228600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WRITING STANDARDS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560320" y="4297680"/>
              <a:ext cx="6035040" cy="749808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2697480" y="4389120"/>
              <a:ext cx="576072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Your quality control layer. Active voice, sentence length, acronym rules - the AI self-enforces these on every output.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74320" y="5166360"/>
              <a:ext cx="2286000" cy="749808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4320" y="5166360"/>
              <a:ext cx="228600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GUARDRAILS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560320" y="5166360"/>
              <a:ext cx="6035040" cy="749808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2697480" y="5257800"/>
              <a:ext cx="576072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safety net. PHI rules, scope limits, and accountability reminders are hardcoded here - not left to chance.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1 - SOP GENERATOR AGENT</a:t>
            </a:r>
            <a:endParaRPr lang="en-US" sz="24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1C48B1-2B98-91AC-6158-BD5DEB571192}"/>
              </a:ext>
            </a:extLst>
          </p:cNvPr>
          <p:cNvGrpSpPr/>
          <p:nvPr/>
        </p:nvGrpSpPr>
        <p:grpSpPr>
          <a:xfrm>
            <a:off x="274319" y="1143000"/>
            <a:ext cx="8456507" cy="3930227"/>
            <a:chOff x="274320" y="1143000"/>
            <a:chExt cx="8321040" cy="4736592"/>
          </a:xfrm>
        </p:grpSpPr>
        <p:sp>
          <p:nvSpPr>
            <p:cNvPr id="3" name="Shape 1"/>
            <p:cNvSpPr/>
            <p:nvPr/>
          </p:nvSpPr>
          <p:spPr>
            <a:xfrm>
              <a:off x="274320" y="1143000"/>
              <a:ext cx="8321040" cy="457200"/>
            </a:xfrm>
            <a:prstGeom prst="rect">
              <a:avLst/>
            </a:prstGeom>
            <a:solidFill>
              <a:srgbClr val="F0B3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365760" y="1170432"/>
              <a:ext cx="813816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HANDS-ON: Open AskSage on your device now. Follow along as we build together.</a:t>
              </a:r>
              <a:endParaRPr lang="en-US" sz="13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274320" y="1737360"/>
              <a:ext cx="8321040" cy="640080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457200" y="1783080"/>
              <a:ext cx="79552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Mission: Build an SOP for MAs and 4N0s on messaging patients and families in MHS Genesis</a:t>
              </a:r>
              <a:endParaRPr lang="en-US" sz="14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74320" y="2514600"/>
              <a:ext cx="1234440" cy="484632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274320" y="2514600"/>
              <a:ext cx="1234440" cy="48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STEP 1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508760" y="2514600"/>
              <a:ext cx="7086600" cy="484632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1600200" y="2578608"/>
              <a:ext cx="6903720" cy="3840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Open your SOP_Generator_Agent.md file in a text editor. Review the structure quickly.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74320" y="3090672"/>
              <a:ext cx="1234440" cy="484632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274320" y="3090672"/>
              <a:ext cx="1234440" cy="48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STEP 2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508760" y="3090672"/>
              <a:ext cx="7086600" cy="4846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1600200" y="3154680"/>
              <a:ext cx="6903720" cy="3840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 AskSage, create a new conversation. Paste the entire .md file content as your first message.</a:t>
              </a:r>
              <a:endParaRPr lang="en-US" sz="11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74320" y="3666744"/>
              <a:ext cx="1234440" cy="484632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274320" y="3666744"/>
              <a:ext cx="1234440" cy="48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STEP 3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508760" y="3666744"/>
              <a:ext cx="7086600" cy="484632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1600200" y="3730752"/>
              <a:ext cx="6903720" cy="3840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Type: Activate - watch the agent greet you and begin the structured interview.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74320" y="4242816"/>
              <a:ext cx="1234440" cy="484632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274320" y="4242816"/>
              <a:ext cx="1234440" cy="48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STEP 4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508760" y="4242816"/>
              <a:ext cx="7086600" cy="4846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1600200" y="4306824"/>
              <a:ext cx="6903720" cy="3840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Answer each question as the agent asks them one at a time using the MHS Genesis scenario.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74320" y="4818888"/>
              <a:ext cx="1234440" cy="484632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274320" y="4818888"/>
              <a:ext cx="1234440" cy="48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STEP 5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508760" y="4818888"/>
              <a:ext cx="7086600" cy="484632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1600200" y="4882896"/>
              <a:ext cx="6903720" cy="3840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Review the confirmation summary. Correct anything needed before proceeding.</a:t>
              </a:r>
              <a:endParaRPr lang="en-US" sz="11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74320" y="5394960"/>
              <a:ext cx="1234440" cy="484632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274320" y="5394960"/>
              <a:ext cx="1234440" cy="48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STEP 6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508760" y="5394960"/>
              <a:ext cx="7086600" cy="4846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1600200" y="5458968"/>
              <a:ext cx="6903720" cy="3840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Confirm - watch the agent generate your fully formatted SOP in seconds.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2 - MFR GENERATOR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143000"/>
            <a:ext cx="8321040" cy="457200"/>
          </a:xfrm>
          <a:prstGeom prst="rect">
            <a:avLst/>
          </a:prstGeom>
          <a:solidFill>
            <a:srgbClr val="F0B3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70432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 You already know the pattern. Now let us build something more sophisticated.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8321040" cy="640080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Generate a Tongue and Quill-formatted MFR using WHASC letterhead via Socratic AI interview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514600"/>
            <a:ext cx="4023360" cy="347472"/>
          </a:xfrm>
          <a:prstGeom prst="rect">
            <a:avLst/>
          </a:prstGeom>
          <a:solidFill>
            <a:srgbClr val="005A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NEW in this demo: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12-question Socratic interview - agent builds the doc from conversation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Tongue and Quill Chapter 14 formatting hardcoded into output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WHASC letterhead header auto-generated in every output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block, attachments, and cc: all handled automatically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flags missing information before generating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accountability reminder auto-appended to every output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514600"/>
            <a:ext cx="4023360" cy="34747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Scenario: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862072"/>
            <a:ext cx="4023360" cy="2281428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2953512"/>
            <a:ext cx="3840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fictional scenario: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documenting a conversation between the Pediatric Clinic Chief and a technician regarding an unauthorized message sent to a patient family through MHS Genesis that included treatment recommendations that had not been discussed with a provider.  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PHI required - use placeholder names throughout.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AND PITFALLS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143000"/>
            <a:ext cx="41148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3749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clinic .md library and share agents with your whole team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your files (SOP_Gen_v1.md, v2.md) in a shared drive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specific your guardrails, the safer your outputs will be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- ask the AI to strengthen, shorten, or reformat after draft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 agent with edge cases before deploying to staff.  </a:t>
            </a:r>
          </a:p>
          <a:p>
            <a:pPr marL="800100" lvl="1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Not sure what the edge cases are in your case? Ask your LLM to help you develop some. 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quality is a skill - practice makes it faster and better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143000"/>
            <a:ext cx="4023360" cy="38404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0" y="11430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PITFALLS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600200"/>
            <a:ext cx="3749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Garbage in, garbage out - vague inputs produce vague SOPs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risk - </a:t>
            </a: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may fabricate regulation numbers - always verify</a:t>
            </a:r>
            <a:endParaRPr lang="en-US" sz="11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submit AI output without human review and verification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on the wrong platform is a real HIPAA violation with consequences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drafts, YOU sign - </a:t>
            </a:r>
            <a:r>
              <a:rPr lang="en-US" sz="1100" b="1" u="sng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never transfers </a:t>
            </a: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machine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over-rely on AI for nuanced or sensitive communications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4658191"/>
            <a:ext cx="8321040" cy="475488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685623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B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RULE: AI is your force multiplier. You are still the expert. Never abdicate professional judgment.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CLINIC AI LIBRARY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19" y="111107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5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two agents today. Build your library over time. Share with your team.</a:t>
            </a:r>
            <a:endParaRPr lang="en-US" sz="13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3535895-E5CE-A5DE-54F3-74D4782BD73B}"/>
              </a:ext>
            </a:extLst>
          </p:cNvPr>
          <p:cNvGrpSpPr/>
          <p:nvPr/>
        </p:nvGrpSpPr>
        <p:grpSpPr>
          <a:xfrm>
            <a:off x="274319" y="1461346"/>
            <a:ext cx="8537787" cy="3544993"/>
            <a:chOff x="274320" y="1691640"/>
            <a:chExt cx="8458200" cy="4361688"/>
          </a:xfrm>
        </p:grpSpPr>
        <p:sp>
          <p:nvSpPr>
            <p:cNvPr id="4" name="Shape 2"/>
            <p:cNvSpPr/>
            <p:nvPr/>
          </p:nvSpPr>
          <p:spPr>
            <a:xfrm>
              <a:off x="274320" y="1691640"/>
              <a:ext cx="2697480" cy="384048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274320" y="1691640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SOP Generator</a:t>
              </a:r>
              <a:endParaRPr lang="en-US" sz="12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74320" y="2075688"/>
              <a:ext cx="2697480" cy="141732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365760" y="2167128"/>
              <a:ext cx="2514600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Any clinic workflow standardization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94360" y="2743200"/>
              <a:ext cx="2011680" cy="411480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594360" y="27432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Built Today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154680" y="1691640"/>
              <a:ext cx="2697480" cy="384048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154680" y="1691640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MFR Drafter</a:t>
              </a:r>
              <a:endParaRPr lang="en-US" sz="1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154680" y="2075688"/>
              <a:ext cx="2697480" cy="141732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246120" y="2167128"/>
              <a:ext cx="2514600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T&amp;Q formatted memos on demand</a:t>
              </a:r>
              <a:endParaRPr lang="en-US" sz="11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474720" y="2743200"/>
              <a:ext cx="2011680" cy="411480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3474720" y="27432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Built Today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035040" y="1691640"/>
              <a:ext cx="2697480" cy="384048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6035040" y="1691640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EFMP Letter Assistant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035040" y="2075688"/>
              <a:ext cx="2697480" cy="141732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6126480" y="2167128"/>
              <a:ext cx="2514600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Enrollment narrative drafting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355080" y="2743200"/>
              <a:ext cx="2011680" cy="411480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6355080" y="27432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Build Next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74320" y="3657600"/>
              <a:ext cx="2697480" cy="384048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274320" y="3657600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Referral Letter Agent</a:t>
              </a:r>
              <a:endParaRPr lang="en-US" sz="12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274320" y="4041648"/>
              <a:ext cx="2697480" cy="141732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365760" y="4133088"/>
              <a:ext cx="2514600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Specialty referral draft generation</a:t>
              </a:r>
              <a:endParaRPr lang="en-US" sz="11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94360" y="4709160"/>
              <a:ext cx="2011680" cy="411480"/>
            </a:xfrm>
            <a:prstGeom prst="rect">
              <a:avLst/>
            </a:prstGeom>
            <a:solidFill>
              <a:srgbClr val="005A8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594360" y="470916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Build Next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3154680" y="3657600"/>
              <a:ext cx="2697480" cy="384048"/>
            </a:xfrm>
            <a:prstGeom prst="rect">
              <a:avLst/>
            </a:prstGeom>
            <a:solidFill>
              <a:srgbClr val="F0B3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3154680" y="3657600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Staff Counseling Memo</a:t>
              </a:r>
              <a:endParaRPr lang="en-US" sz="12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154680" y="4041648"/>
              <a:ext cx="2697480" cy="141732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3246120" y="4133088"/>
              <a:ext cx="2514600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Non-punitive documentation support</a:t>
              </a:r>
              <a:endParaRPr lang="en-US" sz="11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474720" y="4709160"/>
              <a:ext cx="2011680" cy="411480"/>
            </a:xfrm>
            <a:prstGeom prst="rect">
              <a:avLst/>
            </a:prstGeom>
            <a:solidFill>
              <a:srgbClr val="F0B3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3474720" y="470916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Future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035040" y="3657600"/>
              <a:ext cx="2697480" cy="384048"/>
            </a:xfrm>
            <a:prstGeom prst="rect">
              <a:avLst/>
            </a:prstGeom>
            <a:solidFill>
              <a:srgbClr val="F0B3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6035040" y="3657600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Training Record Summary</a:t>
              </a:r>
              <a:endParaRPr lang="en-US" sz="12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035040" y="4041648"/>
              <a:ext cx="2697480" cy="1417320"/>
            </a:xfrm>
            <a:prstGeom prst="rect">
              <a:avLst/>
            </a:prstGeom>
            <a:solidFill>
              <a:srgbClr val="F2F4F7"/>
            </a:solidFill>
            <a:ln w="1270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6126480" y="4133088"/>
              <a:ext cx="2514600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Readiness reporting assistance</a:t>
              </a:r>
              <a:endParaRPr lang="en-US" sz="11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6355080" y="4709160"/>
              <a:ext cx="2011680" cy="411480"/>
            </a:xfrm>
            <a:prstGeom prst="rect">
              <a:avLst/>
            </a:prstGeom>
            <a:solidFill>
              <a:srgbClr val="F0B3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6355080" y="470916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Future</a:t>
              </a:r>
              <a:endParaRPr lang="en-US" sz="10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274320" y="5577840"/>
              <a:ext cx="8321040" cy="475488"/>
            </a:xfrm>
            <a:prstGeom prst="rect">
              <a:avLst/>
            </a:prstGeom>
            <a:solidFill>
              <a:srgbClr val="F2F4F7"/>
            </a:solidFill>
            <a:ln w="25400">
              <a:solidFill>
                <a:srgbClr val="F0B32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457200" y="5605272"/>
              <a:ext cx="795528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30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Every .md file you build is a reusable asset for your entire clinic team - not just for you.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8E2938-CEF0-C065-AC36-EF508EC672B8}"/>
              </a:ext>
            </a:extLst>
          </p:cNvPr>
          <p:cNvGrpSpPr/>
          <p:nvPr/>
        </p:nvGrpSpPr>
        <p:grpSpPr>
          <a:xfrm>
            <a:off x="274320" y="1188720"/>
            <a:ext cx="8321040" cy="3904488"/>
            <a:chOff x="274320" y="1188720"/>
            <a:chExt cx="8321040" cy="4663440"/>
          </a:xfrm>
        </p:grpSpPr>
        <p:sp>
          <p:nvSpPr>
            <p:cNvPr id="3" name="Shape 1"/>
            <p:cNvSpPr/>
            <p:nvPr/>
          </p:nvSpPr>
          <p:spPr>
            <a:xfrm>
              <a:off x="274320" y="1188720"/>
              <a:ext cx="594360" cy="822960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274320" y="1188720"/>
              <a:ext cx="5943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0B32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22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868680" y="1188720"/>
              <a:ext cx="7726680" cy="822960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1005840" y="1252728"/>
              <a:ext cx="749808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030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is a Force Multiplier</a:t>
              </a:r>
              <a:endParaRPr lang="en-US" sz="13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005840" y="1600200"/>
              <a:ext cx="749808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It does not replace your clinical judgment. It eliminates the administrative tax that steals time from patient care.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74320" y="2148840"/>
              <a:ext cx="594360" cy="822960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274320" y="2148840"/>
              <a:ext cx="5943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0B32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868680" y="2148840"/>
              <a:ext cx="7726680" cy="8229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005840" y="2212848"/>
              <a:ext cx="749808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030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Platform Discipline is Non-Negotiable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05840" y="2560320"/>
              <a:ext cx="749808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AskSage for anything with PHI or PII. GENAI for non-sensitive tasks only. No exceptions. No shortcuts.</a:t>
              </a:r>
              <a:endParaRPr lang="en-US" sz="11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74320" y="3108960"/>
              <a:ext cx="594360" cy="822960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274320" y="3108960"/>
              <a:ext cx="5943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0B32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68680" y="3108960"/>
              <a:ext cx="7726680" cy="822960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1005840" y="3172968"/>
              <a:ext cx="749808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030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.md File is Your Superpower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005840" y="3520440"/>
              <a:ext cx="749808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well-written agent file is a reusable, shareable, auditable tool that gets better every time you refine it.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274320" y="4069080"/>
              <a:ext cx="594360" cy="822960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74320" y="4069080"/>
              <a:ext cx="5943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0B32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868680" y="4069080"/>
              <a:ext cx="7726680" cy="8229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1005840" y="4133088"/>
              <a:ext cx="749808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030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You Are Always Accountable</a:t>
              </a:r>
              <a:endParaRPr lang="en-US" sz="13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005840" y="4480560"/>
              <a:ext cx="749808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drafts. You review, you verify, you sign. Professional responsibility never transfers to the machine.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74320" y="5029200"/>
              <a:ext cx="594360" cy="822960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274320" y="5029200"/>
              <a:ext cx="5943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0B32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2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68680" y="5029200"/>
              <a:ext cx="7726680" cy="822960"/>
            </a:xfrm>
            <a:prstGeom prst="rect">
              <a:avLst/>
            </a:prstGeom>
            <a:solidFill>
              <a:srgbClr val="F2F4F7"/>
            </a:solidFill>
            <a:ln w="6350">
              <a:solidFill>
                <a:srgbClr val="C0C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1005840" y="5093208"/>
              <a:ext cx="749808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030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Start Today</a:t>
              </a:r>
              <a:endParaRPr lang="en-US" sz="13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005840" y="5367529"/>
              <a:ext cx="749808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You have two working agents and access to AskSage. Your clinic productivity improves the moment you walk out this door.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AND Q&amp;A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143000"/>
            <a:ext cx="2697480" cy="384048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YOU RECEIVE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527048"/>
            <a:ext cx="2697480" cy="201168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618488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SOP_Generator_Agent.md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MFR_Generator_Agent.md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Builder Tip Sheet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Prompting Cheat Sheet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1143000"/>
            <a:ext cx="2697480" cy="384048"/>
          </a:xfrm>
          <a:prstGeom prst="rect">
            <a:avLst/>
          </a:prstGeom>
          <a:solidFill>
            <a:srgbClr val="005A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54680" y="11430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PLATFORMS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527048"/>
            <a:ext cx="2697480" cy="201168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618488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AskSage - contact MTF IT for access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- available via AF Portal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require CAC authentication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MTF usage policy before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69748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1430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527048"/>
            <a:ext cx="2697480" cy="201168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618488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both .md files into AskSage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real SOP through the agent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one colleague and iterate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third agent within 30 days</a:t>
            </a:r>
            <a:endParaRPr lang="en-US" sz="1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BBE81F-F55D-7CE8-DD99-3FF435F44AF1}"/>
              </a:ext>
            </a:extLst>
          </p:cNvPr>
          <p:cNvGrpSpPr/>
          <p:nvPr/>
        </p:nvGrpSpPr>
        <p:grpSpPr>
          <a:xfrm>
            <a:off x="274320" y="3703320"/>
            <a:ext cx="8366760" cy="1303020"/>
            <a:chOff x="274320" y="3703320"/>
            <a:chExt cx="8321040" cy="1691640"/>
          </a:xfrm>
        </p:grpSpPr>
        <p:sp>
          <p:nvSpPr>
            <p:cNvPr id="15" name="Shape 13"/>
            <p:cNvSpPr/>
            <p:nvPr/>
          </p:nvSpPr>
          <p:spPr>
            <a:xfrm>
              <a:off x="274320" y="3703320"/>
              <a:ext cx="8321040" cy="1691640"/>
            </a:xfrm>
            <a:prstGeom prst="rect">
              <a:avLst/>
            </a:prstGeom>
            <a:solidFill>
              <a:srgbClr val="00308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457200" y="3794760"/>
              <a:ext cx="2743200" cy="1417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0B32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QUESTIONS?</a:t>
              </a:r>
              <a:endParaRPr lang="en-US" sz="2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383280" y="3794760"/>
              <a:ext cx="5029200" cy="1554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"The best time to start using AI in your clinic was yesterday.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i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second best time is right now."</a:t>
              </a:r>
              <a:endParaRPr lang="en-US" sz="1200" dirty="0"/>
            </a:p>
            <a:p>
              <a:pPr marL="0" indent="0">
                <a:buNone/>
              </a:pPr>
              <a:endParaRPr lang="en-US" sz="1200" dirty="0"/>
            </a:p>
            <a:p>
              <a:pPr marL="0" indent="0">
                <a:buNone/>
              </a:pPr>
              <a:r>
                <a:rPr lang="en-US" sz="1200" i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You leave today with real tools, real skills, and real access.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i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 build something great.</a:t>
              </a:r>
              <a:endParaRPr lang="en-US" sz="12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0" y="5833872"/>
            <a:ext cx="9144000" cy="25603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58338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 // FOR OFFICIAL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6a3f6ad-3d9b-49ad-9486-10bfd8fef73e}" enabled="1" method="Privileged" siteId="{8903a443-af33-4ed4-acf5-ee613bcb2f5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2015</Words>
  <Application>Microsoft Office PowerPoint</Application>
  <PresentationFormat>On-screen Show (16:9)</PresentationFormat>
  <Paragraphs>306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Easter, Peter S Lt Col USAF DHA (USA)</cp:lastModifiedBy>
  <cp:revision>2</cp:revision>
  <dcterms:created xsi:type="dcterms:W3CDTF">2026-05-27T18:03:23Z</dcterms:created>
  <dcterms:modified xsi:type="dcterms:W3CDTF">2026-06-04T15:17:45Z</dcterms:modified>
</cp:coreProperties>
</file>